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5" r:id="rId3"/>
  </p:sldMasterIdLst>
  <p:notesMasterIdLst>
    <p:notesMasterId r:id="rId15"/>
  </p:notesMasterIdLst>
  <p:handoutMasterIdLst>
    <p:handoutMasterId r:id="rId16"/>
  </p:handoutMasterIdLst>
  <p:sldIdLst>
    <p:sldId id="277" r:id="rId4"/>
    <p:sldId id="399" r:id="rId5"/>
    <p:sldId id="412" r:id="rId6"/>
    <p:sldId id="413" r:id="rId7"/>
    <p:sldId id="414" r:id="rId8"/>
    <p:sldId id="416" r:id="rId9"/>
    <p:sldId id="418" r:id="rId10"/>
    <p:sldId id="419" r:id="rId11"/>
    <p:sldId id="421" r:id="rId12"/>
    <p:sldId id="420" r:id="rId13"/>
    <p:sldId id="41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5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 showGuides="1">
      <p:cViewPr varScale="1">
        <p:scale>
          <a:sx n="73" d="100"/>
          <a:sy n="73" d="100"/>
        </p:scale>
        <p:origin x="531" y="63"/>
      </p:cViewPr>
      <p:guideLst>
        <p:guide orient="horz" pos="214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56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05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700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ftr="0" dt="0"/>
  <p:txStyles>
    <p:titleStyle>
      <a:lvl1pPr algn="ctr" defTabSz="1219200" rtl="0" eaLnBrk="1" latinLnBrk="1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/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/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/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7602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altLang="en-US" sz="2400" b="1" dirty="0">
                <a:solidFill>
                  <a:srgbClr val="000000"/>
                </a:solidFill>
              </a:rPr>
              <a:t>INTERNET OF THINGS </a:t>
            </a:r>
            <a:r>
              <a:rPr lang="en-IN" altLang="en-US" sz="2400" b="1" dirty="0">
                <a:solidFill>
                  <a:srgbClr val="000000"/>
                </a:solidFill>
              </a:rPr>
              <a:t>&amp;</a:t>
            </a:r>
            <a:r>
              <a:rPr lang="en-US" altLang="en-US" sz="2400" b="1" dirty="0">
                <a:solidFill>
                  <a:srgbClr val="000000"/>
                </a:solidFill>
              </a:rPr>
              <a:t> CLOUD COMPUTING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1014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Monitoring and Optimization for Home Appliances via Cloud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78070" y="4387689"/>
            <a:ext cx="390398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/>
              <a:t>Submitted by: </a:t>
            </a:r>
          </a:p>
          <a:p>
            <a:pPr algn="ctr"/>
            <a:r>
              <a:rPr lang="en-US" altLang="en-US" sz="2000" dirty="0"/>
              <a:t>22BIT70018 Pathivada Yathin Kumar</a:t>
            </a:r>
          </a:p>
          <a:p>
            <a:pPr algn="ctr"/>
            <a:r>
              <a:rPr lang="en-US" altLang="en-US" sz="2000" dirty="0"/>
              <a:t>22BCC70130 Sathwik Nadipalli</a:t>
            </a:r>
          </a:p>
          <a:p>
            <a:pPr algn="ctr"/>
            <a:r>
              <a:rPr lang="en-US" altLang="en-US" sz="2000" dirty="0"/>
              <a:t>22BIT70007 Durga Prasad</a:t>
            </a:r>
          </a:p>
          <a:p>
            <a:pPr algn="ctr"/>
            <a:r>
              <a:rPr lang="en-US" altLang="en-US" sz="2000" dirty="0"/>
              <a:t>22BIT70062 Rishabh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/>
              <a:t>Under the Supervision of: </a:t>
            </a:r>
            <a:endParaRPr lang="en-US" sz="2000" dirty="0"/>
          </a:p>
          <a:p>
            <a:pPr algn="l"/>
            <a:r>
              <a:rPr lang="en-US" altLang="en-US" sz="2000" dirty="0"/>
              <a:t>Tejinder Pal Singh (E16552)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463040" y="4403090"/>
            <a:ext cx="4064000" cy="1635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 panose="02020603050405020304"/>
                <a:cs typeface="Times New Roman" panose="02020603050405020304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 Evaluation &amp; Selection of Specifications/Features</a:t>
            </a:r>
          </a:p>
          <a:p>
            <a:pPr>
              <a:spcAft>
                <a:spcPts val="10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 Design Constraints</a:t>
            </a:r>
          </a:p>
          <a:p>
            <a:pPr>
              <a:spcAft>
                <a:spcPts val="10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 Analysis of Features and Finalization Subject to Constraints</a:t>
            </a:r>
          </a:p>
          <a:p>
            <a:pPr>
              <a:spcAft>
                <a:spcPts val="10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 Design Flow</a:t>
            </a:r>
          </a:p>
          <a:p>
            <a:pPr>
              <a:spcAft>
                <a:spcPts val="10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 Design Selection</a:t>
            </a:r>
          </a:p>
          <a:p>
            <a:pPr>
              <a:spcAft>
                <a:spcPts val="10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 Implementation Plan /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Calibri"/>
              </a:rPr>
              <a:t>Evaluation &amp; Selection of Specifications /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The system requires smart sensing devices to measure voltage, current, power, and cumulative energy use for individual appliances.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A cloud-connected design is selected so collected readings can be stored remotely, visualized, and analyzed over time.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Core features chosen are real-time monitoring, historical usage tracking, abnormal consumption detection, and remote appliance control.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 err="1"/>
              <a:t>IoT</a:t>
            </a:r>
            <a:r>
              <a:rPr lang="en-US" sz="2400" dirty="0"/>
              <a:t> communication support is necessary to transfer data reliably between sensing nodes, gateway devices, and the cloud.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The final specification emphasizes low cost, scalability, user convenience, and easy integration with household appliances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</a:rPr>
              <a:t>Design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5000" lnSpcReduction="10000"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The overall solution must remain affordable because home energy monitoring systems should be practical for residential users.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Internet dependency affects cloud connectivity, so the design should handle temporary network interruption and delayed synchronization.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Sensor accuracy and electrical safety are major constraints because the system interfaces directly with household appliances.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Continuous monitoring generates large amounts of data, which creates storage, bandwidth, and cloud processing challenges.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The monitoring hardware itself should consume very little power and should not add significant energy overhead.</a:t>
            </a: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/>
              </a:rPr>
              <a:t>Analysis of Features and Finalization Subject to Constraints</a:t>
            </a:r>
            <a:br>
              <a:rPr lang="en-US" b="1" dirty="0">
                <a:solidFill>
                  <a:srgbClr val="000000"/>
                </a:solidFill>
                <a:latin typeface="Calibri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5000" lnSpcReduction="10000"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Real-time monitoring was prioritized because it helps users identify waste immediately and observe live appliance behavior.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Historical analytics was retained because cloud platforms support trend analysis, comparison of daily usage, and optimization planning.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Remote ON/OFF control and scheduling were included because they improve convenience and enable better load management.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Advanced functions were selected only if they provided useful benefits without making the system too expensive or complex.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The finalized system includes sensing, communication, cloud storage, analytics, dashboard access, and optimization/control modules.</a:t>
            </a: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Calibri"/>
              </a:rPr>
              <a:t>Design Flow</a:t>
            </a:r>
            <a:br>
              <a:rPr lang="en-US" b="1" dirty="0">
                <a:solidFill>
                  <a:srgbClr val="000000"/>
                </a:solidFill>
                <a:latin typeface="Calibri"/>
              </a:rPr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20" y="1435741"/>
            <a:ext cx="9602250" cy="117683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01013" y="2836506"/>
            <a:ext cx="9377265" cy="383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itchFamily="34" charset="0"/>
              <a:buChar char="•"/>
              <a:defRPr sz="19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Appliance sensors measure power usage and send readings to a controller or gateway.</a:t>
            </a:r>
          </a:p>
          <a:p>
            <a:pPr marL="342900" indent="-342900">
              <a:spcAft>
                <a:spcPts val="1000"/>
              </a:spcAft>
              <a:buFont typeface="Arial" pitchFamily="34" charset="0"/>
              <a:buChar char="•"/>
              <a:defRPr sz="19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The gateway forwards the data to the cloud for storage, processing, and analysis.</a:t>
            </a:r>
          </a:p>
          <a:p>
            <a:pPr marL="342900" indent="-342900">
              <a:spcAft>
                <a:spcPts val="1000"/>
              </a:spcAft>
              <a:buFont typeface="Arial" pitchFamily="34" charset="0"/>
              <a:buChar char="•"/>
              <a:defRPr sz="19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Users access real-time and historical information through a web or mobile dashboard.</a:t>
            </a:r>
          </a:p>
          <a:p>
            <a:pPr marL="342900" indent="-342900">
              <a:spcAft>
                <a:spcPts val="1000"/>
              </a:spcAft>
              <a:buFont typeface="Arial" pitchFamily="34" charset="0"/>
              <a:buChar char="•"/>
              <a:defRPr sz="19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The optimization layer generates alerts, recommendations, or control actions to reduce waste.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992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Calibri"/>
              </a:rPr>
              <a:t>Design Selection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280" y="1845825"/>
            <a:ext cx="10515600" cy="4351338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A cloud-based </a:t>
            </a:r>
            <a:r>
              <a:rPr lang="en-US" sz="2400" dirty="0" err="1"/>
              <a:t>IoT</a:t>
            </a:r>
            <a:r>
              <a:rPr lang="en-US" sz="2400" dirty="0"/>
              <a:t> architecture is selected instead of a purely local system because it offers better remote access and scalability.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Appliance-level monitoring is preferred over whole-home total monitoring because it clearly identifies which devices consume the most energy.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The chosen design combines sensors, microcontroller or gateway, cloud database, analytics engine, and user dashboard.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This design supports both monitoring and optimization, which makes it more useful than systems that only display data.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The selected model provides a good balance between functionality, implementation effort, future expansion, and cost.</a:t>
            </a:r>
          </a:p>
        </p:txBody>
      </p:sp>
    </p:spTree>
    <p:extLst>
      <p:ext uri="{BB962C8B-B14F-4D97-AF65-F5344CB8AC3E}">
        <p14:creationId xmlns:p14="http://schemas.microsoft.com/office/powerpoint/2010/main" val="1303941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Calibri"/>
              </a:rPr>
              <a:t>Implementation Plan / Methodology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280" y="1845825"/>
            <a:ext cx="10515600" cy="4351338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Phase 1: Select hardware components such as energy sensors, smart plugs, and microcontroller or gateway devices.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Phase 2: Configure data collection and establish communication between appliances, sensors, and the cloud platform.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Phase 3: Develop the cloud backend for storing readings, processing data, and generating analytical insights.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Phase 4: Build a user dashboard for real-time monitoring, alerts, historical graphs, and remote control.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Phase 5: Test the complete system for accuracy, reliability, communication performance, and energy-saving effectiveness.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9845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59E09-B761-8CB6-8568-791F036B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DDD7E-BFBC-3022-A37F-BAA31D084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4389"/>
            <a:ext cx="10715897" cy="592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38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Calibri"/>
              </a:rPr>
              <a:t>Outcome of Design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280" y="1845825"/>
            <a:ext cx="10515600" cy="4351338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The final design produces a practical and scalable cloud-based smart home energy monitoring framework.</a:t>
            </a:r>
          </a:p>
          <a:p>
            <a:pPr>
              <a:spcAft>
                <a:spcPts val="1000"/>
              </a:spcAft>
              <a:defRPr sz="23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It supports real-time tracking, appliance-level analysis, remote monitoring, and optimization of electricity usage.</a:t>
            </a:r>
          </a:p>
          <a:p>
            <a:pPr>
              <a:spcAft>
                <a:spcPts val="1000"/>
              </a:spcAft>
              <a:defRPr sz="2300">
                <a:solidFill>
                  <a:srgbClr val="000000"/>
                </a:solidFill>
                <a:latin typeface="Calibri"/>
              </a:defRPr>
            </a:pPr>
            <a:r>
              <a:rPr lang="en-US" sz="2400" dirty="0"/>
              <a:t>The system can reduce unnecessary power consumption, lower electricity bills, and promote sustainable energy behavior.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05580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285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altLang="en-US" sz="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</a:t>
            </a:r>
          </a:p>
          <a:p>
            <a:pPr marL="0" indent="0">
              <a:buNone/>
            </a:pPr>
            <a:endParaRPr lang="en-IN" altLang="en-US" sz="5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en-IN" altLang="en-US" sz="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           </a:t>
            </a:r>
            <a:r>
              <a:rPr lang="en-US" sz="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THANK YOU</a:t>
            </a:r>
            <a:endParaRPr lang="en-US" sz="5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sz="5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159</TotalTime>
  <Words>737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Casper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Evaluation &amp; Selection of Specifications / Features</vt:lpstr>
      <vt:lpstr>Design Constraints</vt:lpstr>
      <vt:lpstr>Analysis of Features and Finalization Subject to Constraints </vt:lpstr>
      <vt:lpstr>Design Flow </vt:lpstr>
      <vt:lpstr>Design Selection</vt:lpstr>
      <vt:lpstr>Implementation Plan / Methodology</vt:lpstr>
      <vt:lpstr>PowerPoint Presentation</vt:lpstr>
      <vt:lpstr>Outcome of Design Process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Sathwik Nadipalli</cp:lastModifiedBy>
  <cp:revision>503</cp:revision>
  <dcterms:created xsi:type="dcterms:W3CDTF">2019-01-09T10:33:00Z</dcterms:created>
  <dcterms:modified xsi:type="dcterms:W3CDTF">2026-04-30T08:57:20Z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12AFE2177E8D4EA8BC8FFEC576497CB8_13</vt:lpwstr>
  </property>
  <property fmtid="{D5CDD505-2E9C-101B-9397-08002B2CF9AE}" pid="3" name="KSOProductBuildVer">
    <vt:lpwstr>1033-12.2.0.23196</vt:lpwstr>
  </property>
</Properties>
</file>